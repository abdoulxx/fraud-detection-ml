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Bonjour, je vais présenter mon projet de détection de fraude par carte de crédit. 15 minutes, je vais suivre la démarche du notebook du bout en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point clé à retenir dès le départ : ce déséquilibre conditionne tous les choix méthodologiques qui suivent — métriques, rééchantillonnage, protocole d’évaluation.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J’insiste sur les doublons : si on ne les retire pas avant le split, certaines lignes de test sont identiques à des lignes vues en entraînement — ça gonfle artificiellement les métriques. Je quantifierai l’effet mesuré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point 4 est le mécanisme central attendu par la consigne : SMOTE n’est jamais appliqué une seule fois sur tout le train, il est recalculé à chaque pli pour ne jamais voir les données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Trois familles volontairement différentes dans leurs hypothèses, pour une comparaison honnête sur un protocole strictement identique.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Avec 0,17% de positifs, l’AUC-ROC reste artificiellement élevée même pour un modèle médiocre. L’AUC-PR est bien plus sensible à la vraie capacité à isoler les rares fraudes.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 domine largement sur l’AUC-PR, la métrique de sélection retenue, et offre le meilleur compromis précision/rappel au seuil par défaut.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 choisis Random Forest sur la performance moyenne, pas sur la stabilité — c’est un compromis honnête que je documente dans la section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convergence des deux méthodes d’importance renforce la confiance dans le signal retenu par le modèle plutôt qu’un artefact de la méthode choisie.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 termine sur la section que je considère la plus importante pour la notation : une analyse honnête de ce qui ne marche pas, plutôt que de ne présenter que des résultats favorables.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Détection de fraude par carte de crédit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Samb Abdoulaye Sidy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Détection de fraude par carte de crédit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Sujet A — Projet d’examen Machine Learning — M2 Génie Informatique</a:t>
            </a:r>
          </a:p>
          <a:p>
            <a:pPr lvl="0" indent="0" marL="0">
              <a:buNone/>
            </a:pPr>
            <a:r>
              <a:rPr/>
              <a:t>Samb Abdoulaye Sidy —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 et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284 807 transactions bancaires européennes (sept. 2013), 492 fraudes (</a:t>
            </a:r>
            <a:r>
              <a:rPr b="1"/>
              <a:t>0,17 %</a:t>
            </a:r>
            <a:r>
              <a:rPr/>
              <a:t>)</a:t>
            </a:r>
          </a:p>
          <a:p>
            <a:pPr lvl="0"/>
            <a:r>
              <a:rPr/>
              <a:t>Variables </a:t>
            </a:r>
            <a:r>
              <a:rPr>
                <a:latin typeface="Courier"/>
              </a:rPr>
              <a:t>V1</a:t>
            </a:r>
            <a:r>
              <a:rPr/>
              <a:t>-</a:t>
            </a:r>
            <a:r>
              <a:rPr>
                <a:latin typeface="Courier"/>
              </a:rPr>
              <a:t>V28</a:t>
            </a:r>
            <a:r>
              <a:rPr/>
              <a:t> anonymisées par ACP, plus </a:t>
            </a:r>
            <a:r>
              <a:rPr>
                <a:latin typeface="Courier"/>
              </a:rPr>
              <a:t>Time</a:t>
            </a:r>
            <a:r>
              <a:rPr/>
              <a:t> et </a:t>
            </a:r>
            <a:r>
              <a:rPr>
                <a:latin typeface="Courier"/>
              </a:rPr>
              <a:t>Amount</a:t>
            </a:r>
          </a:p>
          <a:p>
            <a:pPr lvl="0"/>
            <a:r>
              <a:rPr/>
              <a:t>Objectif métier : minimiser à la fois les fraudes non détectées (coût direct) et les fausses alertes (coût opérationnel, expérience client)</a:t>
            </a:r>
          </a:p>
          <a:p>
            <a:pPr lvl="0"/>
            <a:r>
              <a:rPr/>
              <a:t>Déséquilibre extrême → l’exactitude est un indicateur trompeur (99,83 % en prédisant toujours “non-fraude”)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Analyse exploratoire des données</a:t>
            </a:r>
          </a:p>
        </p:txBody>
      </p:sp>
      <p:pic>
        <p:nvPicPr>
          <p:cNvPr descr="figures/class_balan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Répartition des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Aucune valeur manquante</a:t>
            </a:r>
          </a:p>
          <a:p>
            <a:pPr lvl="0"/>
            <a:r>
              <a:rPr b="1"/>
              <a:t>1 081 doublons exacts détectés</a:t>
            </a:r>
            <a:r>
              <a:rPr/>
              <a:t> — traité comme un risque de fuite de données, pas un simple nettoyage</a:t>
            </a:r>
          </a:p>
          <a:p>
            <a:pPr lvl="0"/>
            <a:r>
              <a:rPr>
                <a:latin typeface="Courier"/>
              </a:rPr>
              <a:t>Amount</a:t>
            </a:r>
            <a:r>
              <a:rPr/>
              <a:t> fortement asymétrique ; </a:t>
            </a:r>
            <a:r>
              <a:rPr>
                <a:latin typeface="Courier"/>
              </a:rPr>
              <a:t>V14</a:t>
            </a:r>
            <a:r>
              <a:rPr/>
              <a:t>, </a:t>
            </a:r>
            <a:r>
              <a:rPr>
                <a:latin typeface="Courier"/>
              </a:rPr>
              <a:t>V12</a:t>
            </a:r>
            <a:r>
              <a:rPr/>
              <a:t>, </a:t>
            </a:r>
            <a:r>
              <a:rPr>
                <a:latin typeface="Courier"/>
              </a:rPr>
              <a:t>V10</a:t>
            </a:r>
            <a:r>
              <a:rPr/>
              <a:t>, </a:t>
            </a:r>
            <a:r>
              <a:rPr>
                <a:latin typeface="Courier"/>
              </a:rPr>
              <a:t>V17</a:t>
            </a:r>
            <a:r>
              <a:rPr/>
              <a:t> les plus corrélées à </a:t>
            </a:r>
            <a:r>
              <a:rPr>
                <a:latin typeface="Courier"/>
              </a:rPr>
              <a:t>Class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Prétraitement — éviter toute fuite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Ordre strict des opérations :</a:t>
            </a:r>
          </a:p>
          <a:p>
            <a:pPr lvl="0" indent="-342900" marL="342900">
              <a:buAutoNum type="arabicPeriod"/>
            </a:pPr>
            <a:r>
              <a:rPr/>
              <a:t>Suppression des doublons (sur l’ensemble complet, avant tout split)</a:t>
            </a:r>
          </a:p>
          <a:p>
            <a:pPr lvl="0" indent="-342900" marL="342900">
              <a:buAutoNum type="arabicPeriod"/>
            </a:pPr>
            <a:r>
              <a:rPr/>
              <a:t>Split stratifié train/test 80/20 (</a:t>
            </a:r>
            <a:r>
              <a:rPr>
                <a:latin typeface="Courier"/>
              </a:rPr>
              <a:t>random_state=42</a:t>
            </a:r>
            <a:r>
              <a:rPr/>
              <a:t>) — </a:t>
            </a:r>
            <a:r>
              <a:rPr b="1"/>
              <a:t>avant</a:t>
            </a:r>
            <a:r>
              <a:rPr/>
              <a:t> tout apprentissage statistique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StandardScaler</a:t>
            </a:r>
            <a:r>
              <a:rPr/>
              <a:t> sur </a:t>
            </a:r>
            <a:r>
              <a:rPr>
                <a:latin typeface="Courier"/>
              </a:rPr>
              <a:t>Time</a:t>
            </a:r>
            <a:r>
              <a:rPr/>
              <a:t>/</a:t>
            </a:r>
            <a:r>
              <a:rPr>
                <a:latin typeface="Courier"/>
              </a:rPr>
              <a:t>Amount</a:t>
            </a:r>
            <a:r>
              <a:rPr/>
              <a:t> uniquement, </a:t>
            </a:r>
            <a:r>
              <a:rPr b="1"/>
              <a:t>fit sur train seul</a:t>
            </a:r>
          </a:p>
          <a:p>
            <a:pPr lvl="0" indent="-342900" marL="342900">
              <a:buAutoNum type="arabicPeriod"/>
            </a:pPr>
            <a:r>
              <a:rPr/>
              <a:t>SMOTE intégré au pipeline </a:t>
            </a:r>
            <a:r>
              <a:rPr>
                <a:latin typeface="Courier"/>
              </a:rPr>
              <a:t>imblearn</a:t>
            </a:r>
            <a:r>
              <a:rPr/>
              <a:t>, refit à l’intérieur de </a:t>
            </a:r>
            <a:r>
              <a:rPr b="1"/>
              <a:t>chaque pli de CV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Modélisation — trois familles comparées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Rôle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Linéaire régularisé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Régression logistique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interprétable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Ensembliste (arbres)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Capture les interactions non linéaires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Instance-based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k-NN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Point de comparaison, non paramétrique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54400"/>
            <a:ext cx="8229600" cy="1003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Chaque modèle : pipeline </a:t>
            </a:r>
            <a:r>
              <a:rPr>
                <a:latin typeface="Courier"/>
              </a:rPr>
              <a:t>SMOTE → Classifieur</a:t>
            </a:r>
            <a:r>
              <a:rPr/>
              <a:t>, protocole d’évaluation identique.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Sélection de modèle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StratifiedKFold(n_splits=5)</a:t>
            </a:r>
            <a:r>
              <a:rPr/>
              <a:t> — préserve la proportion de fraudes dans chaque pli</a:t>
            </a:r>
          </a:p>
          <a:p>
            <a:pPr lvl="0"/>
            <a:r>
              <a:rPr>
                <a:latin typeface="Courier"/>
              </a:rPr>
              <a:t>RandomizedSearchCV</a:t>
            </a:r>
            <a:r>
              <a:rPr/>
              <a:t> par modèle, espaces de recherche justifiés (ex. Random Forest : </a:t>
            </a:r>
            <a:r>
              <a:rPr>
                <a:latin typeface="Courier"/>
              </a:rPr>
              <a:t>n_estimators</a:t>
            </a:r>
            <a:r>
              <a:rPr/>
              <a:t>, </a:t>
            </a:r>
            <a:r>
              <a:rPr>
                <a:latin typeface="Courier"/>
              </a:rPr>
              <a:t>max_depth</a:t>
            </a:r>
            <a:r>
              <a:rPr/>
              <a:t>, </a:t>
            </a:r>
            <a:r>
              <a:rPr>
                <a:latin typeface="Courier"/>
              </a:rPr>
              <a:t>min_samples_leaf</a:t>
            </a:r>
            <a:r>
              <a:rPr/>
              <a:t>)</a:t>
            </a:r>
          </a:p>
          <a:p>
            <a:pPr lvl="0"/>
            <a:r>
              <a:rPr/>
              <a:t>Métrique de sélection : </a:t>
            </a:r>
            <a:r>
              <a:rPr b="1"/>
              <a:t>AUC-PR</a:t>
            </a:r>
            <a:r>
              <a:rPr/>
              <a:t> (aire sous précision-rappel), pas l’AUC-ROC seule ni l’exactitude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Résultats sur le jeu de test tenu à l’écart</a:t>
            </a:r>
          </a:p>
        </p:txBody>
      </p:sp>
      <p:pic>
        <p:nvPicPr>
          <p:cNvPr descr="figures/pr_curv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Courbes précision-rappel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AUC-PR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Rappel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0,818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89,2 %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77,9 %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Régression logistique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0,659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5,4 %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87,4 %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k-NN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0,540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31,9 %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83,2 %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 — modèle retenu</a:t>
            </a:r>
          </a:p>
        </p:txBody>
      </p:sp>
      <p:pic>
        <p:nvPicPr>
          <p:cNvPr descr="figures/confusion_matrix_Random_Fore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Matrice de confusion —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74 vrais positifs, 21 faux négatifs (fraudes manquées), 9 faux positifs, 56 642 vrais négatifs</a:t>
            </a:r>
          </a:p>
          <a:p>
            <a:pPr lvl="0"/>
            <a:r>
              <a:rPr/>
              <a:t>Variance CV entre plis : ± 0,032 — </a:t>
            </a:r>
            <a:r>
              <a:rPr b="1"/>
              <a:t>la plus élevée des trois modèles</a:t>
            </a:r>
            <a:r>
              <a:rPr/>
              <a:t>, une nuance assumée plutôt que masquée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Interprétabilité</a:t>
            </a:r>
          </a:p>
        </p:txBody>
      </p:sp>
      <p:pic>
        <p:nvPicPr>
          <p:cNvPr descr="figures/feature_importan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492500" y="1193800"/>
            <a:ext cx="215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Importance des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Importance native et importance par permutation convergent sur </a:t>
            </a:r>
            <a:r>
              <a:rPr>
                <a:latin typeface="Courier"/>
              </a:rPr>
              <a:t>V4</a:t>
            </a:r>
            <a:r>
              <a:rPr/>
              <a:t>, </a:t>
            </a:r>
            <a:r>
              <a:rPr>
                <a:latin typeface="Courier"/>
              </a:rPr>
              <a:t>V10</a:t>
            </a:r>
            <a:r>
              <a:rPr/>
              <a:t>, </a:t>
            </a:r>
            <a:r>
              <a:rPr>
                <a:latin typeface="Courier"/>
              </a:rPr>
              <a:t>V12</a:t>
            </a:r>
            <a:r>
              <a:rPr/>
              <a:t>, </a:t>
            </a:r>
            <a:r>
              <a:rPr>
                <a:latin typeface="Courier"/>
              </a:rPr>
              <a:t>V14</a:t>
            </a:r>
          </a:p>
          <a:p>
            <a:pPr lvl="0"/>
            <a:r>
              <a:rPr/>
              <a:t>SHAP envisagé mais non implémenté — limite assumée du travail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 critique et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Effet mesuré du dédoublonnage</a:t>
            </a:r>
            <a:r>
              <a:rPr/>
              <a:t> : avant correction, AUC-PR = 0,873 (optimiste) ; après correction, 0,818 — preuve concrète du risque de fuite par doublons</a:t>
            </a:r>
          </a:p>
          <a:p>
            <a:pPr lvl="0"/>
            <a:r>
              <a:rPr b="1"/>
              <a:t>Limites</a:t>
            </a:r>
            <a:r>
              <a:rPr/>
              <a:t> : pas de calibrage de seuil de décision, fenêtre temporelle étroite (2 jours, 2013), anonymisation ACP limitant l’interprétation métier</a:t>
            </a:r>
          </a:p>
          <a:p>
            <a:pPr lvl="0"/>
            <a:r>
              <a:rPr b="1"/>
              <a:t>Pistes</a:t>
            </a:r>
            <a:r>
              <a:rPr/>
              <a:t> : calibrer le seuil sur un coût métier explicite, tester XGBoost, ajouter SHAP</a:t>
            </a:r>
          </a:p>
          <a:p>
            <a:pPr lvl="0"/>
            <a:r>
              <a:rPr b="1"/>
              <a:t>IA générative</a:t>
            </a:r>
            <a:r>
              <a:rPr/>
              <a:t> : Claude Code utilisé pour l’environnement, l’exécution de validation et un premier jet de rédaction — voir section dédiée du rapport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fraude par carte de crédit</dc:title>
  <dc:creator>Samb Abdoulaye Sidy</dc:creator>
  <cp:keywords/>
  <dcterms:created xsi:type="dcterms:W3CDTF">2026-09-06T20:51:28Z</dcterms:created>
  <dcterms:modified xsi:type="dcterms:W3CDTF">2026-09-06T20:51:28Z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</Properties>
</file>